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24C"/>
                </a:solidFill>
                <a:latin typeface="Calibri"/>
              </a:rPr>
              <a:t>INGENIO LA CORONA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F4E5C2"/>
                </a:solidFill>
                <a:latin typeface="Calibri"/>
              </a:rPr>
              <a:t>Departamento de Tecnología de Información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Reporte Ejecutivo de 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D4A24C"/>
                </a:solidFill>
                <a:latin typeface="Calibri"/>
              </a:rPr>
              <a:t>Abril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840480"/>
            <a:ext cx="1645920" cy="54864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4A24C"/>
                </a:solidFill>
                <a:latin typeface="Calibri"/>
              </a:rPr>
              <a:t>PERIODO DE ZAFRA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160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Zafra 2025-2026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4A24C"/>
                </a:solidFill>
                <a:latin typeface="Calibri"/>
              </a:rPr>
              <a:t>RESPONSABLE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5720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[Nombre del Encargado de Sistemas]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83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4A24C"/>
                </a:solidFill>
                <a:latin typeface="Calibri"/>
              </a:rPr>
              <a:t>FECHA DE ELABORACIÓN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9834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2026-04-28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4E5C2"/>
                </a:solidFill>
                <a:latin typeface="Calibri"/>
              </a:rPr>
              <a:t>Documento confidencial · Solo para uso de Dirección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24C"/>
                </a:solidFill>
                <a:latin typeface="Calibri"/>
              </a:rPr>
              <a:t>RESUMEN DEL 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4E2C"/>
                </a:solidFill>
                <a:latin typeface="Calibri"/>
              </a:rPr>
              <a:t>Mensaje clave y puntos relevantes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118872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4A24C"/>
                </a:solidFill>
                <a:latin typeface="Calibri"/>
              </a:rPr>
              <a:t>MENSAJE CLAVE PARA DIRECCIÓN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Zafra opera con 99.6% de disponibilidad; sin incidentes mayores en sistemas de fábrica.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4E2C"/>
                </a:solidFill>
                <a:latin typeface="Calibri"/>
              </a:rPr>
              <a:t>Puntos relevantes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429000"/>
            <a:ext cx="502920" cy="502920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4290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9300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2E1A"/>
                </a:solidFill>
                <a:latin typeface="Calibri"/>
              </a:rPr>
              <a:t>Disponibilidad global de sistemas críticos en 99.6% durante el mes.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95928"/>
            <a:ext cx="502920" cy="502920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99592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059936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2E1A"/>
                </a:solidFill>
                <a:latin typeface="Calibri"/>
              </a:rPr>
              <a:t>Avance de 3 proyectos estratégicos según plan; 1 en riesgo amarillo.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4562856"/>
            <a:ext cx="502920" cy="502920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56285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626864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2E1A"/>
                </a:solidFill>
                <a:latin typeface="Calibri"/>
              </a:rPr>
              <a:t>Ejecución presupuestal de TI al 92% sin desvíos materiales.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5129784"/>
            <a:ext cx="502920" cy="502920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12978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19379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2E1A"/>
                </a:solidFill>
                <a:latin typeface="Calibri"/>
              </a:rPr>
              <a:t>Cero incidentes mayores en SCADA/Báscula durante zafra.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5696712"/>
            <a:ext cx="502920" cy="502920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6967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7607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2E1A"/>
                </a:solidFill>
                <a:latin typeface="Calibri"/>
              </a:rPr>
              <a:t>Renovación de 4 licencias críticas asegurada para próximos 90 días.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Reporte Ejecutivo de TI · Ingenio La Corona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64922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4E5C2"/>
                </a:solidFill>
                <a:latin typeface="Calibri"/>
              </a:rPr>
              <a:t>Abril 2026    ·    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24C"/>
                </a:solidFill>
                <a:latin typeface="Calibri"/>
              </a:rPr>
              <a:t>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4E2C"/>
                </a:solidFill>
                <a:latin typeface="Calibri"/>
              </a:rPr>
              <a:t>Disponibilidad de sistemas críticos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3749039" cy="96012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99.74%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4E5C2"/>
                </a:solidFill>
                <a:latin typeface="Calibri"/>
              </a:rPr>
              <a:t>Disponibilidad promedio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508760"/>
            <a:ext cx="3749039" cy="960120"/>
          </a:xfrm>
          <a:prstGeom prst="rect">
            <a:avLst/>
          </a:prstGeom>
          <a:solidFill>
            <a:srgbClr val="3C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0020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4E5C2"/>
                </a:solidFill>
                <a:latin typeface="Calibri"/>
              </a:rPr>
              <a:t>Sistemas en verde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508760"/>
            <a:ext cx="3749039" cy="9601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4E5C2"/>
                </a:solidFill>
                <a:latin typeface="Calibri"/>
              </a:rPr>
              <a:t>Sistemas con alerta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2249424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697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Sistema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06624" y="2697480"/>
            <a:ext cx="1462125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9776" y="2697480"/>
            <a:ext cx="131582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Categoría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8749" y="2697480"/>
            <a:ext cx="1012240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1901" y="2697480"/>
            <a:ext cx="8659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Objetivo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80990" y="2697480"/>
            <a:ext cx="1012240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4142" y="2697480"/>
            <a:ext cx="8659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3231" y="2697480"/>
            <a:ext cx="1349654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6383" y="2697480"/>
            <a:ext cx="120335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Tiempo fuera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2885" y="2697480"/>
            <a:ext cx="1237183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16037" y="2697480"/>
            <a:ext cx="10908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Estado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80068" y="2697480"/>
            <a:ext cx="2924251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53220" y="2697480"/>
            <a:ext cx="277794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Comentario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3063240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ERP / Sistema central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9776" y="3063240"/>
            <a:ext cx="131582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Negocio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41901" y="3063240"/>
            <a:ext cx="865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99.50%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4142" y="3063240"/>
            <a:ext cx="865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99.80%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6383" y="3063240"/>
            <a:ext cx="120335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1.4 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04277" y="3108960"/>
            <a:ext cx="914400" cy="237744"/>
          </a:xfrm>
          <a:prstGeom prst="roundRect">
            <a:avLst/>
          </a:prstGeom>
          <a:solidFill>
            <a:srgbClr val="3C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Verde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3220" y="3063240"/>
            <a:ext cx="277794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Sin novedad.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392424"/>
            <a:ext cx="11247120" cy="329184"/>
          </a:xfrm>
          <a:prstGeom prst="rect">
            <a:avLst/>
          </a:prstGeom>
          <a:solidFill>
            <a:srgbClr val="D9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3392424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Báscula camionera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79776" y="3392424"/>
            <a:ext cx="131582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Operación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41901" y="3392424"/>
            <a:ext cx="865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99.90%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4142" y="3392424"/>
            <a:ext cx="865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99.95%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6383" y="3392424"/>
            <a:ext cx="120335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0.4 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04277" y="3438144"/>
            <a:ext cx="914400" cy="237744"/>
          </a:xfrm>
          <a:prstGeom prst="roundRect">
            <a:avLst/>
          </a:prstGeom>
          <a:solidFill>
            <a:srgbClr val="3C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Verde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53220" y="3392424"/>
            <a:ext cx="277794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Operación continua durante zafra.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372160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SCADA fábrica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79776" y="3721608"/>
            <a:ext cx="131582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Industrial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41901" y="3721608"/>
            <a:ext cx="865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99.90%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4142" y="3721608"/>
            <a:ext cx="865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100.00%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6383" y="3721608"/>
            <a:ext cx="120335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0.0 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04277" y="3767328"/>
            <a:ext cx="914400" cy="237744"/>
          </a:xfrm>
          <a:prstGeom prst="roundRect">
            <a:avLst/>
          </a:prstGeom>
          <a:solidFill>
            <a:srgbClr val="3C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Verde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53220" y="3721608"/>
            <a:ext cx="277794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Sin paros por TI.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050792"/>
            <a:ext cx="11247120" cy="329184"/>
          </a:xfrm>
          <a:prstGeom prst="rect">
            <a:avLst/>
          </a:prstGeom>
          <a:solidFill>
            <a:srgbClr val="D9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050792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Correo corporativo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79776" y="4050792"/>
            <a:ext cx="131582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Colaboración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41901" y="4050792"/>
            <a:ext cx="865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99.50%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54142" y="4050792"/>
            <a:ext cx="865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99.60%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6383" y="4050792"/>
            <a:ext cx="120335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2.9 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04277" y="4096512"/>
            <a:ext cx="914400" cy="237744"/>
          </a:xfrm>
          <a:prstGeom prst="roundRect">
            <a:avLst/>
          </a:prstGeom>
          <a:solidFill>
            <a:srgbClr val="3C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Verde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53220" y="4050792"/>
            <a:ext cx="277794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Microcortes resueltos por proveedor.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0352" y="4379976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Enlace WAN principal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79776" y="4379976"/>
            <a:ext cx="131582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Red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41901" y="4379976"/>
            <a:ext cx="865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99.50%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54142" y="4379976"/>
            <a:ext cx="865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99.20%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6383" y="4379976"/>
            <a:ext cx="120335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5.8 h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704277" y="4425696"/>
            <a:ext cx="914400" cy="237744"/>
          </a:xfrm>
          <a:prstGeom prst="roundRect">
            <a:avLst/>
          </a:prstGeom>
          <a:solidFill>
            <a:srgbClr val="E6B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Amarillo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53220" y="4379976"/>
            <a:ext cx="277794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Falla de fibra resuelta el día 12.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709160"/>
            <a:ext cx="11247120" cy="329184"/>
          </a:xfrm>
          <a:prstGeom prst="rect">
            <a:avLst/>
          </a:prstGeom>
          <a:solidFill>
            <a:srgbClr val="D9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0352" y="4709160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Servidor de archivos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79776" y="4709160"/>
            <a:ext cx="131582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Infraestructura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41901" y="4709160"/>
            <a:ext cx="865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99.50%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54142" y="4709160"/>
            <a:ext cx="865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99.90%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66383" y="4709160"/>
            <a:ext cx="120335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0.7 h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704277" y="4754880"/>
            <a:ext cx="914400" cy="237744"/>
          </a:xfrm>
          <a:prstGeom prst="roundRect">
            <a:avLst/>
          </a:prstGeom>
          <a:solidFill>
            <a:srgbClr val="3C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Verde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53220" y="4709160"/>
            <a:ext cx="277794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OK.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52" y="5038344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Sistema de nómina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79776" y="5038344"/>
            <a:ext cx="131582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RH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41901" y="5038344"/>
            <a:ext cx="865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99.00%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54142" y="5038344"/>
            <a:ext cx="865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100.00%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66383" y="5038344"/>
            <a:ext cx="120335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0.0 h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704277" y="5084064"/>
            <a:ext cx="914400" cy="237744"/>
          </a:xfrm>
          <a:prstGeom prst="roundRect">
            <a:avLst/>
          </a:prstGeom>
          <a:solidFill>
            <a:srgbClr val="3C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Verde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53220" y="5038344"/>
            <a:ext cx="277794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OK.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5367528"/>
            <a:ext cx="11247120" cy="329184"/>
          </a:xfrm>
          <a:prstGeom prst="rect">
            <a:avLst/>
          </a:prstGeom>
          <a:solidFill>
            <a:srgbClr val="D9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0352" y="536752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Backup central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79776" y="5367528"/>
            <a:ext cx="131582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Continuidad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41901" y="5367528"/>
            <a:ext cx="865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99.00%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54142" y="5367528"/>
            <a:ext cx="865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99.50%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66383" y="5367528"/>
            <a:ext cx="120335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3.6 h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704277" y="5413248"/>
            <a:ext cx="914400" cy="237744"/>
          </a:xfrm>
          <a:prstGeom prst="roundRect">
            <a:avLst/>
          </a:prstGeom>
          <a:solidFill>
            <a:srgbClr val="3C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Verde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53220" y="5367528"/>
            <a:ext cx="277794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1 ventana de mantenimiento programada.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Reporte Ejecutivo de TI · Ingenio La Corona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0" y="64922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4E5C2"/>
                </a:solidFill>
                <a:latin typeface="Calibri"/>
              </a:rPr>
              <a:t>Abril 2026    ·    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24C"/>
                </a:solidFill>
                <a:latin typeface="Calibri"/>
              </a:rPr>
              <a:t>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4E2C"/>
                </a:solidFill>
                <a:latin typeface="Calibri"/>
              </a:rPr>
              <a:t>Incidentes mayores del 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3749039" cy="96012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4E5C2"/>
                </a:solidFill>
                <a:latin typeface="Calibri"/>
              </a:rPr>
              <a:t>Incidentes en el 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508760"/>
            <a:ext cx="3749039" cy="9601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0020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10.6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4E5C2"/>
                </a:solidFill>
                <a:latin typeface="Calibri"/>
              </a:rPr>
              <a:t>Tiempo acumulado de afectación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508760"/>
            <a:ext cx="3749039" cy="960120"/>
          </a:xfrm>
          <a:prstGeom prst="rect">
            <a:avLst/>
          </a:prstGeom>
          <a:solidFill>
            <a:srgbClr val="3C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4E5C2"/>
                </a:solidFill>
                <a:latin typeface="Calibri"/>
              </a:rPr>
              <a:t>Severidad Crítica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1124712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697480"/>
            <a:ext cx="978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Fecha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81912" y="2697480"/>
            <a:ext cx="1799539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55064" y="2697480"/>
            <a:ext cx="1653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Sistema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1451" y="2697480"/>
            <a:ext cx="1237183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4603" y="2697480"/>
            <a:ext cx="10908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Severidad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8634" y="2697480"/>
            <a:ext cx="3374136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1786" y="2697480"/>
            <a:ext cx="32278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Descripción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2770" y="2697480"/>
            <a:ext cx="899769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5922" y="2697480"/>
            <a:ext cx="75346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Tiempo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92540" y="2697480"/>
            <a:ext cx="2811780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5692" y="2697480"/>
            <a:ext cx="26654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Acción correctiva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3063240"/>
            <a:ext cx="97840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2026-04-12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55064" y="3063240"/>
            <a:ext cx="165323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Enlace WAN principal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42842" y="3108960"/>
            <a:ext cx="914400" cy="502920"/>
          </a:xfrm>
          <a:prstGeom prst="roundRect">
            <a:avLst/>
          </a:prstGeom>
          <a:solidFill>
            <a:srgbClr val="E6B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1786" y="3063240"/>
            <a:ext cx="32278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Caída de fibra principal de 5h con failover a respaldo.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922" y="3063240"/>
            <a:ext cx="75346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5.0 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5692" y="3063240"/>
            <a:ext cx="2665476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Activación de SLA con proveedor; programada redundancia adicional.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657600"/>
            <a:ext cx="11247120" cy="594360"/>
          </a:xfrm>
          <a:prstGeom prst="rect">
            <a:avLst/>
          </a:prstGeom>
          <a:solidFill>
            <a:srgbClr val="D9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3657600"/>
            <a:ext cx="97840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2026-04-19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55064" y="3657600"/>
            <a:ext cx="165323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Correo corporativo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42842" y="3703320"/>
            <a:ext cx="914400" cy="502920"/>
          </a:xfrm>
          <a:prstGeom prst="round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Media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91786" y="3657600"/>
            <a:ext cx="32278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Latencia de envío y rebotes intermitentes durante 2h.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5922" y="3657600"/>
            <a:ext cx="75346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2.0 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5692" y="3657600"/>
            <a:ext cx="2665476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Ajuste de filtros antispam y monitoreo activo.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4251960"/>
            <a:ext cx="97840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2026-04-23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55064" y="4251960"/>
            <a:ext cx="165323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Backup central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42842" y="4297680"/>
            <a:ext cx="914400" cy="502920"/>
          </a:xfrm>
          <a:prstGeom prst="round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Media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1786" y="4251960"/>
            <a:ext cx="32278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Job de backup falló para servidor de archivos.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65922" y="4251960"/>
            <a:ext cx="75346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3.6 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5692" y="4251960"/>
            <a:ext cx="2665476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Limpieza de retención y ampliación de cuota.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Reporte Ejecutivo de TI · Ingenio La Corona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64922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4E5C2"/>
                </a:solidFill>
                <a:latin typeface="Calibri"/>
              </a:rPr>
              <a:t>Abril 2026    ·    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24C"/>
                </a:solidFill>
                <a:latin typeface="Calibri"/>
              </a:rPr>
              <a:t>PROYECTOS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4E2C"/>
                </a:solidFill>
                <a:latin typeface="Calibri"/>
              </a:rPr>
              <a:t>Avance de iniciativas estratégicas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3749039" cy="96012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4E5C2"/>
                </a:solidFill>
                <a:latin typeface="Calibri"/>
              </a:rPr>
              <a:t>Proyectos activos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508760"/>
            <a:ext cx="3749039" cy="9601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0020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4E5C2"/>
                </a:solidFill>
                <a:latin typeface="Calibri"/>
              </a:rPr>
              <a:t>Avance promedio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508760"/>
            <a:ext cx="3749039" cy="960120"/>
          </a:xfrm>
          <a:prstGeom prst="rect">
            <a:avLst/>
          </a:prstGeom>
          <a:solidFill>
            <a:srgbClr val="3E7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4/1/0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4E5C2"/>
                </a:solidFill>
                <a:latin typeface="Calibri"/>
              </a:rPr>
              <a:t>Verde / Amarillo / Rojo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2924251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697480"/>
            <a:ext cx="277794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Proyecto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451" y="2697480"/>
            <a:ext cx="1799539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4603" y="2697480"/>
            <a:ext cx="1653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Responsable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80990" y="2697480"/>
            <a:ext cx="1124712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4142" y="2697480"/>
            <a:ext cx="978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Estado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5702" y="2697480"/>
            <a:ext cx="1012240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8854" y="2697480"/>
            <a:ext cx="8659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Avance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7943" y="2697480"/>
            <a:ext cx="1462125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91095" y="2697480"/>
            <a:ext cx="131582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Fin previsto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80068" y="2697480"/>
            <a:ext cx="2924251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53220" y="2697480"/>
            <a:ext cx="277794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Próximo hito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3063240"/>
            <a:ext cx="27779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Renovación de switches de fábrica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4603" y="3063240"/>
            <a:ext cx="165323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Jefe de Redes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86146" y="3108960"/>
            <a:ext cx="914400" cy="365760"/>
          </a:xfrm>
          <a:prstGeom prst="roundRect">
            <a:avLst/>
          </a:prstGeom>
          <a:solidFill>
            <a:srgbClr val="3C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Verde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8854" y="3063240"/>
            <a:ext cx="8659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65%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91095" y="3063240"/>
            <a:ext cx="131582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2026-06-30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3220" y="3063240"/>
            <a:ext cx="27779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Migración del último anillo industrial.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solidFill>
            <a:srgbClr val="D9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3520440"/>
            <a:ext cx="27779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Nueva báscula camionera 2 (TI)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54603" y="3520440"/>
            <a:ext cx="165323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Encargado Sistemas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86146" y="3566160"/>
            <a:ext cx="914400" cy="365760"/>
          </a:xfrm>
          <a:prstGeom prst="roundRect">
            <a:avLst/>
          </a:prstGeom>
          <a:solidFill>
            <a:srgbClr val="E6B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Amarillo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8854" y="3520440"/>
            <a:ext cx="8659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45%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91095" y="3520440"/>
            <a:ext cx="131582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2026-05-31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3220" y="3520440"/>
            <a:ext cx="27779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Pruebas de integración con ERP.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3977639"/>
            <a:ext cx="27779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Implementación EDR en endpoints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54603" y="3977639"/>
            <a:ext cx="165323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Especialista Seguridad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86146" y="4023359"/>
            <a:ext cx="914400" cy="365760"/>
          </a:xfrm>
          <a:prstGeom prst="roundRect">
            <a:avLst/>
          </a:prstGeom>
          <a:solidFill>
            <a:srgbClr val="3C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Verde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8854" y="3977639"/>
            <a:ext cx="8659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80%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91095" y="3977639"/>
            <a:ext cx="131582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2026-05-15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53220" y="3977639"/>
            <a:ext cx="27779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Despliegue masa final en oficinas.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solidFill>
            <a:srgbClr val="D9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4434840"/>
            <a:ext cx="27779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Continuidad de negocio: DRP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54603" y="4434840"/>
            <a:ext cx="165323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Encargado Sistemas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86146" y="4480559"/>
            <a:ext cx="914400" cy="365760"/>
          </a:xfrm>
          <a:prstGeom prst="roundRect">
            <a:avLst/>
          </a:prstGeom>
          <a:solidFill>
            <a:srgbClr val="3C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Verde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8854" y="4434840"/>
            <a:ext cx="8659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40%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91095" y="4434840"/>
            <a:ext cx="131582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2026-08-31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53220" y="4434840"/>
            <a:ext cx="27779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Pruebas de restauración en sitio alterno.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" y="4892040"/>
            <a:ext cx="27779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Tablero BI de zafra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54603" y="4892040"/>
            <a:ext cx="165323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Analista BI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286146" y="4937759"/>
            <a:ext cx="914400" cy="365760"/>
          </a:xfrm>
          <a:prstGeom prst="roundRect">
            <a:avLst/>
          </a:prstGeom>
          <a:solidFill>
            <a:srgbClr val="3C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Verde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78854" y="4892040"/>
            <a:ext cx="8659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70%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91095" y="4892040"/>
            <a:ext cx="131582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2026-05-30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53220" y="4892040"/>
            <a:ext cx="277794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Validación con jefes de fábrica y campo.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Reporte Ejecutivo de TI · Ingenio La Corona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0" y="64922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4E5C2"/>
                </a:solidFill>
                <a:latin typeface="Calibri"/>
              </a:rPr>
              <a:t>Abril 2026    ·   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24C"/>
                </a:solidFill>
                <a:latin typeface="Calibri"/>
              </a:rPr>
              <a:t>FINANZAS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4E2C"/>
                </a:solidFill>
                <a:latin typeface="Calibri"/>
              </a:rPr>
              <a:t>Presupuesto y ejecución del 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3749039" cy="96012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$470,000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4E5C2"/>
                </a:solidFill>
                <a:latin typeface="Calibri"/>
              </a:rPr>
              <a:t>Presupuesto del 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508760"/>
            <a:ext cx="3749039" cy="9601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0020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$415,000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4E5C2"/>
                </a:solidFill>
                <a:latin typeface="Calibri"/>
              </a:rPr>
              <a:t>Ejecutado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508760"/>
            <a:ext cx="3749039" cy="960120"/>
          </a:xfrm>
          <a:prstGeom prst="rect">
            <a:avLst/>
          </a:prstGeom>
          <a:solidFill>
            <a:srgbClr val="3C8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88.3%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4E5C2"/>
                </a:solidFill>
                <a:latin typeface="Calibri"/>
              </a:rPr>
              <a:t>Ejecución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4498848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697480"/>
            <a:ext cx="43525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Categoría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6048" y="2697480"/>
            <a:ext cx="1912010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697480"/>
            <a:ext cx="176570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Presupuesto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68058" y="2697480"/>
            <a:ext cx="1912010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1210" y="2697480"/>
            <a:ext cx="176570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Ejecutado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80068" y="2697480"/>
            <a:ext cx="1574596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53220" y="2697480"/>
            <a:ext cx="14282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Variación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54665" y="2697480"/>
            <a:ext cx="1349654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7817" y="2697480"/>
            <a:ext cx="120335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% Ejec.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3063240"/>
            <a:ext cx="43525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Hardware (servidores, equipos)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063240"/>
            <a:ext cx="1765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$120,000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1210" y="3063240"/>
            <a:ext cx="1765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$95,000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3220" y="3063240"/>
            <a:ext cx="14282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$25,000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7817" y="3063240"/>
            <a:ext cx="120335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79%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374136"/>
            <a:ext cx="11247120" cy="310896"/>
          </a:xfrm>
          <a:prstGeom prst="rect">
            <a:avLst/>
          </a:prstGeom>
          <a:solidFill>
            <a:srgbClr val="D9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3374136"/>
            <a:ext cx="43525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Software y licencias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374136"/>
            <a:ext cx="1765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$85,000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1210" y="3374136"/>
            <a:ext cx="1765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$88,000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3220" y="3374136"/>
            <a:ext cx="14282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$-3,000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7817" y="3374136"/>
            <a:ext cx="120335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104%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3685032"/>
            <a:ext cx="43525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Servicios cloud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3685032"/>
            <a:ext cx="1765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$60,000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1210" y="3685032"/>
            <a:ext cx="1765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$58,000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3220" y="3685032"/>
            <a:ext cx="14282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$2,000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7817" y="3685032"/>
            <a:ext cx="120335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97%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995928"/>
            <a:ext cx="11247120" cy="310896"/>
          </a:xfrm>
          <a:prstGeom prst="rect">
            <a:avLst/>
          </a:prstGeom>
          <a:solidFill>
            <a:srgbClr val="D9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3995928"/>
            <a:ext cx="43525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Telecomunicaciones / enlaces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3995928"/>
            <a:ext cx="1765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$95,000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1210" y="3995928"/>
            <a:ext cx="1765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$95,000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53220" y="3995928"/>
            <a:ext cx="14282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7817" y="3995928"/>
            <a:ext cx="120335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100%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4306824"/>
            <a:ext cx="43525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Mantenimiento e infraestructura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4306824"/>
            <a:ext cx="1765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$45,000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1210" y="4306824"/>
            <a:ext cx="1765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$40,000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53220" y="4306824"/>
            <a:ext cx="14282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$5,000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7817" y="4306824"/>
            <a:ext cx="120335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89%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4617720"/>
            <a:ext cx="11247120" cy="310896"/>
          </a:xfrm>
          <a:prstGeom prst="rect">
            <a:avLst/>
          </a:prstGeom>
          <a:solidFill>
            <a:srgbClr val="D9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4617720"/>
            <a:ext cx="43525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Consultoría y servicios profesionales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0" y="4617720"/>
            <a:ext cx="1765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$30,000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1210" y="4617720"/>
            <a:ext cx="1765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$22,000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53220" y="4617720"/>
            <a:ext cx="14282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$8,000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7817" y="4617720"/>
            <a:ext cx="120335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73%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" y="4928616"/>
            <a:ext cx="43525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Capacitación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4928616"/>
            <a:ext cx="1765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$15,000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1210" y="4928616"/>
            <a:ext cx="1765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$12,000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53220" y="4928616"/>
            <a:ext cx="14282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$3,000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7817" y="4928616"/>
            <a:ext cx="120335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80%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239512"/>
            <a:ext cx="11247120" cy="310896"/>
          </a:xfrm>
          <a:prstGeom prst="rect">
            <a:avLst/>
          </a:prstGeom>
          <a:solidFill>
            <a:srgbClr val="D9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352" y="5239512"/>
            <a:ext cx="43525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Otros / contingencia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0" y="5239512"/>
            <a:ext cx="1765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$20,000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41210" y="5239512"/>
            <a:ext cx="1765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$5,000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53220" y="5239512"/>
            <a:ext cx="14282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$15,000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7817" y="5239512"/>
            <a:ext cx="120335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25%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0352" y="5550407"/>
            <a:ext cx="43525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TOTAL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0" y="5550407"/>
            <a:ext cx="1765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$470,000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41210" y="5550407"/>
            <a:ext cx="176570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$415,000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53220" y="5550407"/>
            <a:ext cx="14282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$55,000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27817" y="5550407"/>
            <a:ext cx="120335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88%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Reporte Ejecutivo de TI · Ingenio La Corona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0" y="64922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4E5C2"/>
                </a:solidFill>
                <a:latin typeface="Calibri"/>
              </a:rPr>
              <a:t>Abril 2026    ·    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24C"/>
                </a:solidFill>
                <a:latin typeface="Calibri"/>
              </a:rPr>
              <a:t>SEGURIDAD Y CUMPLIMIENTO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4E2C"/>
                </a:solidFill>
                <a:latin typeface="Calibri"/>
              </a:rPr>
              <a:t>Indicadores del 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2788920" cy="13716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2788920" cy="73152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673351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A5A5A"/>
                </a:solidFill>
                <a:latin typeface="Calibri"/>
              </a:rPr>
              <a:t>Intentos de phishing detectados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11680"/>
            <a:ext cx="245973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F4E2C"/>
                </a:solidFill>
                <a:latin typeface="Calibri"/>
              </a:rPr>
              <a:t>142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514600"/>
            <a:ext cx="2459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4A24C"/>
                </a:solidFill>
                <a:latin typeface="Calibri"/>
              </a:rPr>
              <a:t>▲  vs. 128 mes anterior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508760"/>
            <a:ext cx="2788920" cy="13716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508760"/>
            <a:ext cx="2788920" cy="73152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673351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A5A5A"/>
                </a:solidFill>
                <a:latin typeface="Calibri"/>
              </a:rPr>
              <a:t>Clicks en phishing (usuarios)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011680"/>
            <a:ext cx="245973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F4E2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514600"/>
            <a:ext cx="2459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C8F4F"/>
                </a:solidFill>
                <a:latin typeface="Calibri"/>
              </a:rPr>
              <a:t>▼  vs. 7 mes anterior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08760"/>
            <a:ext cx="2788920" cy="13716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08760"/>
            <a:ext cx="2788920" cy="73152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673351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A5A5A"/>
                </a:solidFill>
                <a:latin typeface="Calibri"/>
              </a:rPr>
              <a:t>Equipos sin parche crítico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11680"/>
            <a:ext cx="245973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F4E2C"/>
                </a:solidFill>
                <a:latin typeface="Calibr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514600"/>
            <a:ext cx="2459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C8F4F"/>
                </a:solidFill>
                <a:latin typeface="Calibri"/>
              </a:rPr>
              <a:t>▼  vs. 14 mes anterior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508760"/>
            <a:ext cx="2788920" cy="13716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508760"/>
            <a:ext cx="2788920" cy="73152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1673351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A5A5A"/>
                </a:solidFill>
                <a:latin typeface="Calibri"/>
              </a:rPr>
              <a:t>Cuentas privilegiadas revisadas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2011680"/>
            <a:ext cx="245973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F4E2C"/>
                </a:solidFill>
                <a:latin typeface="Calibri"/>
              </a:rPr>
              <a:t>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2514600"/>
            <a:ext cx="2459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4A24C"/>
                </a:solidFill>
                <a:latin typeface="Calibri"/>
              </a:rPr>
              <a:t>▲  vs. 20 mes anterior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71800"/>
            <a:ext cx="2788920" cy="13716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971800"/>
            <a:ext cx="2788920" cy="73152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3136392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A5A5A"/>
                </a:solidFill>
                <a:latin typeface="Calibri"/>
              </a:rPr>
              <a:t>Backups verificados (de los críticos)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3474720"/>
            <a:ext cx="245973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F4E2C"/>
                </a:solidFill>
                <a:latin typeface="Calibri"/>
              </a:rPr>
              <a:t>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3977639"/>
            <a:ext cx="2459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  <a:latin typeface="Calibri"/>
              </a:rPr>
              <a:t>=  vs. 28 mes anterior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2971800"/>
            <a:ext cx="2788920" cy="13716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37560" y="2971800"/>
            <a:ext cx="2788920" cy="73152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02152" y="3136392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A5A5A"/>
                </a:solidFill>
                <a:latin typeface="Calibri"/>
              </a:rPr>
              <a:t>Hallazgos de auditoría abiertos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02152" y="3474720"/>
            <a:ext cx="245973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F4E2C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02152" y="3977639"/>
            <a:ext cx="2459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C8F4F"/>
                </a:solidFill>
                <a:latin typeface="Calibri"/>
              </a:rPr>
              <a:t>▼  vs. 9 mes anterior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971800"/>
            <a:ext cx="2788920" cy="13716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2971800"/>
            <a:ext cx="2788920" cy="73152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3136392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A5A5A"/>
                </a:solidFill>
                <a:latin typeface="Calibri"/>
              </a:rPr>
              <a:t>Capacitaciones de seguridad realizadas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3474720"/>
            <a:ext cx="245973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F4E2C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3977639"/>
            <a:ext cx="2459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4A24C"/>
                </a:solidFill>
                <a:latin typeface="Calibri"/>
              </a:rPr>
              <a:t>▲  vs. 2 mes anterior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2971800"/>
            <a:ext cx="2788920" cy="13716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8280" y="2971800"/>
            <a:ext cx="2788920" cy="73152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62872" y="3136392"/>
            <a:ext cx="2459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A5A5A"/>
                </a:solidFill>
                <a:latin typeface="Calibri"/>
              </a:rPr>
              <a:t>Eventos críticos en EDR/SIEM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62872" y="3474720"/>
            <a:ext cx="245973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1F4E2C"/>
                </a:solidFill>
                <a:latin typeface="Calibri"/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2872" y="3977639"/>
            <a:ext cx="2459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C8F4F"/>
                </a:solidFill>
                <a:latin typeface="Calibri"/>
              </a:rPr>
              <a:t>▼  vs. 18 mes anterior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Reporte Ejecutivo de TI · Ingenio La Corona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64922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4E5C2"/>
                </a:solidFill>
                <a:latin typeface="Calibri"/>
              </a:rPr>
              <a:t>Abril 2026    ·    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24C"/>
                </a:solidFill>
                <a:latin typeface="Calibri"/>
              </a:rPr>
              <a:t>LICENCIAS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4E2C"/>
                </a:solidFill>
                <a:latin typeface="Calibri"/>
              </a:rPr>
              <a:t>Vencimientos y costo de renovaciones próximas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3749039" cy="96012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4E5C2"/>
                </a:solidFill>
                <a:latin typeface="Calibri"/>
              </a:rPr>
              <a:t>Licencias monitoreadas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508760"/>
            <a:ext cx="3749039" cy="9601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0020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4E5C2"/>
                </a:solidFill>
                <a:latin typeface="Calibri"/>
              </a:rPr>
              <a:t>Vencen en ≤ 90 días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508760"/>
            <a:ext cx="3749039" cy="960120"/>
          </a:xfrm>
          <a:prstGeom prst="rect">
            <a:avLst/>
          </a:prstGeom>
          <a:solidFill>
            <a:srgbClr val="3E7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$175,800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4E5C2"/>
                </a:solidFill>
                <a:latin typeface="Calibri"/>
              </a:rPr>
              <a:t>Costo total renovación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3149193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697480"/>
            <a:ext cx="300288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Producto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6393" y="2697480"/>
            <a:ext cx="1574596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9545" y="2697480"/>
            <a:ext cx="14282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Proveedor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80990" y="2697480"/>
            <a:ext cx="899769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4142" y="2697480"/>
            <a:ext cx="75346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Cant.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2697480"/>
            <a:ext cx="1349654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53912" y="2697480"/>
            <a:ext cx="120335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30414" y="2697480"/>
            <a:ext cx="1012240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03566" y="2697480"/>
            <a:ext cx="8659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Días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42655" y="2697480"/>
            <a:ext cx="1912010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15807" y="2697480"/>
            <a:ext cx="176570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Estado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54665" y="2697480"/>
            <a:ext cx="1349654" cy="36576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7817" y="2697480"/>
            <a:ext cx="120335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Costo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3063240"/>
            <a:ext cx="300288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Antivirus EDR corporativo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9545" y="3063240"/>
            <a:ext cx="14282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Vendor 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4142" y="3063240"/>
            <a:ext cx="75346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180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3063240"/>
            <a:ext cx="120335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2026-06-30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03566" y="3063240"/>
            <a:ext cx="8659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63 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15807" y="3063240"/>
            <a:ext cx="176570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Renovación en gestión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7817" y="3063240"/>
            <a:ext cx="120335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$18,500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429000"/>
            <a:ext cx="11247120" cy="365760"/>
          </a:xfrm>
          <a:prstGeom prst="rect">
            <a:avLst/>
          </a:prstGeom>
          <a:solidFill>
            <a:srgbClr val="D9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3429000"/>
            <a:ext cx="300288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Suite de oficina (correo + ofimática)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9545" y="3429000"/>
            <a:ext cx="14282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Vendor 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4142" y="3429000"/>
            <a:ext cx="75346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120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53912" y="3429000"/>
            <a:ext cx="120335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2026-09-15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03566" y="3429000"/>
            <a:ext cx="8659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140 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15807" y="3429000"/>
            <a:ext cx="176570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Vigente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7817" y="3429000"/>
            <a:ext cx="120335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$42,000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3794760"/>
            <a:ext cx="300288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Sistema ERP (mantenimiento)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79545" y="3794760"/>
            <a:ext cx="14282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Vendor 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54142" y="3794760"/>
            <a:ext cx="75346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53912" y="3794760"/>
            <a:ext cx="120335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2026-12-01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03566" y="3794760"/>
            <a:ext cx="8659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217 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15807" y="3794760"/>
            <a:ext cx="176570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Vigente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7817" y="3794760"/>
            <a:ext cx="120335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$65,000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160520"/>
            <a:ext cx="11247120" cy="365760"/>
          </a:xfrm>
          <a:prstGeom prst="rect">
            <a:avLst/>
          </a:prstGeom>
          <a:solidFill>
            <a:srgbClr val="D9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4160520"/>
            <a:ext cx="300288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Backup empresarial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79545" y="4160520"/>
            <a:ext cx="14282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Vendor 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54142" y="4160520"/>
            <a:ext cx="75346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53912" y="4160520"/>
            <a:ext cx="120335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2026-05-31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03566" y="4160520"/>
            <a:ext cx="8659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33 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15807" y="4160520"/>
            <a:ext cx="176570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Cotizada renovación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7817" y="4160520"/>
            <a:ext cx="120335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$15,800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0352" y="4526280"/>
            <a:ext cx="300288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Firewall (soporte)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79545" y="4526280"/>
            <a:ext cx="14282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Vendor 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54142" y="4526280"/>
            <a:ext cx="75346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53912" y="4526280"/>
            <a:ext cx="120335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2026-08-20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03566" y="4526280"/>
            <a:ext cx="8659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114 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15807" y="4526280"/>
            <a:ext cx="176570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Vigente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27817" y="4526280"/>
            <a:ext cx="120335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$12,500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892040"/>
            <a:ext cx="11247120" cy="365760"/>
          </a:xfrm>
          <a:prstGeom prst="rect">
            <a:avLst/>
          </a:prstGeom>
          <a:solidFill>
            <a:srgbClr val="D9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0352" y="4892040"/>
            <a:ext cx="300288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Plataforma BI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79545" y="4892040"/>
            <a:ext cx="14282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Vendor F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54142" y="4892040"/>
            <a:ext cx="75346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25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53912" y="4892040"/>
            <a:ext cx="120335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2026-11-10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03566" y="4892040"/>
            <a:ext cx="8659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196 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15807" y="4892040"/>
            <a:ext cx="176570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Vigente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27817" y="4892040"/>
            <a:ext cx="120335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1A2E1A"/>
                </a:solidFill>
                <a:latin typeface="Calibri"/>
              </a:rPr>
              <a:t>$22,000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Reporte Ejecutivo de TI · Ingenio La Corona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0" y="64922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4E5C2"/>
                </a:solidFill>
                <a:latin typeface="Calibri"/>
              </a:rPr>
              <a:t>Abril 2026    ·    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4A24C"/>
                </a:solidFill>
                <a:latin typeface="Calibri"/>
              </a:rPr>
              <a:t>ACTIVOS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4E2C"/>
                </a:solidFill>
                <a:latin typeface="Calibri"/>
              </a:rPr>
              <a:t>Inventario — visión ejecutiva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3749039" cy="96012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4E5C2"/>
                </a:solidFill>
                <a:latin typeface="Calibri"/>
              </a:rPr>
              <a:t>Equipos en operación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508760"/>
            <a:ext cx="3749039" cy="96012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0020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4E5C2"/>
                </a:solidFill>
                <a:latin typeface="Calibri"/>
              </a:rPr>
              <a:t>Reemplazos &lt; 3 meses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508760"/>
            <a:ext cx="3749039" cy="960120"/>
          </a:xfrm>
          <a:prstGeom prst="rect">
            <a:avLst/>
          </a:prstGeom>
          <a:solidFill>
            <a:srgbClr val="3E7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4E5C2"/>
                </a:solidFill>
                <a:latin typeface="Calibri"/>
              </a:rPr>
              <a:t>Reemplazos 3-12 meses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3149193" cy="4114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697480"/>
            <a:ext cx="300288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Categoría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6393" y="2697480"/>
            <a:ext cx="1237183" cy="4114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9545" y="2697480"/>
            <a:ext cx="109087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Cantidad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3576" y="2697480"/>
            <a:ext cx="1574596" cy="4114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6728" y="2697480"/>
            <a:ext cx="14282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Edad prom. (años)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18173" y="2697480"/>
            <a:ext cx="1462125" cy="4114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1325" y="2697480"/>
            <a:ext cx="1315821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Reemplazo &lt;3m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80299" y="2697480"/>
            <a:ext cx="1574596" cy="4114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3451" y="2697480"/>
            <a:ext cx="14282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Reemplazo 3-12m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54896" y="2697480"/>
            <a:ext cx="2249424" cy="4114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28048" y="26974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Comentario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3108960"/>
            <a:ext cx="3002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Estaciones de trabajo (PC/laptop)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9545" y="3108960"/>
            <a:ext cx="10908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142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6728" y="3108960"/>
            <a:ext cx="14282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4.2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1325" y="3108960"/>
            <a:ext cx="131582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3451" y="3108960"/>
            <a:ext cx="14282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8048" y="310896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Plan de renovación trianual en marcha.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493008"/>
            <a:ext cx="11247120" cy="384048"/>
          </a:xfrm>
          <a:prstGeom prst="rect">
            <a:avLst/>
          </a:prstGeom>
          <a:solidFill>
            <a:srgbClr val="D9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3493008"/>
            <a:ext cx="3002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Servidores físicos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79545" y="3493008"/>
            <a:ext cx="10908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16728" y="3493008"/>
            <a:ext cx="14282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5.1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1325" y="3493008"/>
            <a:ext cx="131582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3451" y="3493008"/>
            <a:ext cx="14282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8048" y="349300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Dos en evaluación de migración a HCI.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3877056"/>
            <a:ext cx="3002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Equipos de red (switches/AP)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79545" y="3877056"/>
            <a:ext cx="10908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16728" y="3877056"/>
            <a:ext cx="14282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6.3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1325" y="3877056"/>
            <a:ext cx="131582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3451" y="3877056"/>
            <a:ext cx="14282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8048" y="387705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Proyecto de renovación en ejecución.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261104"/>
            <a:ext cx="11247120" cy="384048"/>
          </a:xfrm>
          <a:prstGeom prst="rect">
            <a:avLst/>
          </a:prstGeom>
          <a:solidFill>
            <a:srgbClr val="D9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4261104"/>
            <a:ext cx="3002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Impresoras / multifuncionales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79545" y="4261104"/>
            <a:ext cx="10908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28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16728" y="4261104"/>
            <a:ext cx="14282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5.5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1325" y="4261104"/>
            <a:ext cx="131582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3451" y="4261104"/>
            <a:ext cx="14282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8048" y="426110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Contratos por servicio.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" y="4645152"/>
            <a:ext cx="3002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Equipos de planta (PLC, HMI TI)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79545" y="4645152"/>
            <a:ext cx="10908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34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16728" y="4645152"/>
            <a:ext cx="14282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7.8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1325" y="4645152"/>
            <a:ext cx="131582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3451" y="4645152"/>
            <a:ext cx="14282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28048" y="464515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Coordinación con Mantenimiento.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029200"/>
            <a:ext cx="11247120" cy="384048"/>
          </a:xfrm>
          <a:prstGeom prst="rect">
            <a:avLst/>
          </a:prstGeom>
          <a:solidFill>
            <a:srgbClr val="D9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2" y="5029200"/>
            <a:ext cx="3002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Dispositivos móviles corporativos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79545" y="5029200"/>
            <a:ext cx="10908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48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16728" y="5029200"/>
            <a:ext cx="14282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2.4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1325" y="5029200"/>
            <a:ext cx="131582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3451" y="5029200"/>
            <a:ext cx="14282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2E1A"/>
                </a:solidFill>
                <a:latin typeface="Calibri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28048" y="502920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Renovación gradual.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4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Reporte Ejecutivo de TI · Ingenio La Corona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64922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F4E5C2"/>
                </a:solidFill>
                <a:latin typeface="Calibri"/>
              </a:rPr>
              <a:t>Abril 2026    ·    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4A24C"/>
                </a:solidFill>
                <a:latin typeface="Calibri"/>
              </a:rPr>
              <a:t>CIERRE DEL REPORTE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Próximos pasos y compromisos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4A24C"/>
                </a:solidFill>
                <a:latin typeface="Calibri"/>
              </a:rPr>
              <a:t>Próximos pasos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514600"/>
            <a:ext cx="274320" cy="274320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4E2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Atender riesgo en proyecto «Nueva báscula camionera 2 (TI)» — Atraso por entrega de equipos del proveedor.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017520"/>
            <a:ext cx="274320" cy="274320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4E2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Cerrar renovación de licencias críticas: Antivirus EDR corporativo, Backup empresarial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520440"/>
            <a:ext cx="274320" cy="274320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4E2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474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Cerrar 6 hallazgos de auditoría aún abiertos.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023360"/>
            <a:ext cx="274320" cy="274320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4E2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977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Sostener disponibilidad ≥ 99.5% en sistemas críticos durante el resto de zafra.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526280"/>
            <a:ext cx="274320" cy="274320"/>
          </a:xfrm>
          <a:prstGeom prst="ellipse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4E2C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Revisión mensual del avance presupuestal con Dirección.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43600"/>
            <a:ext cx="10881360" cy="36576"/>
          </a:xfrm>
          <a:prstGeom prst="rect">
            <a:avLst/>
          </a:prstGeom>
          <a:solidFill>
            <a:srgbClr val="D4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F4E5C2"/>
                </a:solidFill>
                <a:latin typeface="Calibri"/>
              </a:rPr>
              <a:t>Elaborado por: [Nombre del Encargado de Sistemas]    ·    Fecha: 2026-04-28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